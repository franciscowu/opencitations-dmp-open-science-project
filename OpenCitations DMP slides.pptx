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8" r:id="rId6"/>
    <p:sldId id="259" r:id="rId7"/>
    <p:sldId id="268" r:id="rId8"/>
    <p:sldId id="261" r:id="rId9"/>
    <p:sldId id="262" r:id="rId10"/>
    <p:sldId id="267" r:id="rId11"/>
    <p:sldId id="264" r:id="rId12"/>
    <p:sldId id="269" r:id="rId13"/>
    <p:sldId id="270" r:id="rId14"/>
    <p:sldId id="271" r:id="rId15"/>
    <p:sldId id="266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A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开场约 40 秒。介绍项目主题：为六个 OpenCitations research outputs 制定数据管理计划，并把 Argos 导出的结构化数据转化为更适合阅读的网页。说明这套 slides 与现有网页配套使用。</a:t>
            </a:r>
          </a:p>
          <a:p/>
          <a:p>
            <a:r>
              <a:t>Visual source: project website asset assets/ocdm-hero.png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70 秒。解释 citation data 如何连接论文。OpenCitations 将 bibliographic metadata 和 citation relationships 作为开放基础设施提供。图中 Meta 管理实体和元数据，Index 管理引文关系，OCDM 则定义共同的表示方式。</a:t>
            </a:r>
          </a:p>
          <a:p/>
          <a:p>
            <a:r>
              <a:t>Visual source: project website asset assets/section2-citation-ecosystem.png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70 秒。OCDM 不是一个数据库，而是一套用于描述 scholarly bibliographic information 和 citations 的数据模型。用图中的 Paper A 与 Paper B 说明关系如何被明确表达，同时将作者、venue、identifier 与 provenance 连接起来。</a:t>
            </a:r>
          </a:p>
          <a:p/>
          <a:p>
            <a:r>
              <a:t>Visual source: project website asset assets/section2-ocdm-relations.png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75 秒。先定义 DMP：它覆盖 research output 从创建到 reuse 的整个生命周期。再说明 Argos 是创建和组织计划的平台。最后明确层级关系：Plan 管项目，Description 管一个具体 research output。</a:t>
            </a:r>
          </a:p>
          <a:p/>
          <a:p>
            <a:r>
              <a:t>Visual source: project website asset assets/section3-dmp-lifecycle.png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90 秒。完整介绍 Description 的五组要求：research output 的身份与责任、summary、伦理与法律、FAIR 与长期保存、quality 与 security。六份 Description 使用同一结构，但答案来自各资源自身的证据。</a:t>
            </a:r>
          </a:p>
          <a:p/>
          <a:p>
            <a:r>
              <a:t>Visual source: project website asset assets/section3-description-book.png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90 秒。按照六步工作流介绍项目：先为六个资源建立证据基础，再在 Argos 中完成一个 Plan 和六份 Descriptions；随后导出并检查 RDA JSON，使用 Python 规范化字段，最后生成并验证 HTML 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05 reserved base slide. Add content directly on this layout. The landscape footer comes from the reusable OCDM slide master.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20 秒。感谢听众并进入提问。The landscape footer comes from the reusable OCDM slide master.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penCitations Bas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0" Type="http://schemas.openxmlformats.org/officeDocument/2006/relationships/notesSlide" Target="../notesSlides/notesSlide7.xml"/><Relationship Id="rId5" Type="http://schemas.openxmlformats.org/officeDocument/2006/relationships/tags" Target="../tags/tag5.xml"/><Relationship Id="rId49" Type="http://schemas.openxmlformats.org/officeDocument/2006/relationships/slideLayout" Target="../slideLayouts/slideLayout1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argos.openaire.eu/plans/overview/84eff3c4-1d9b-4c02-b776-7eecaab6ecbe" TargetMode="Externa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hyperlink" Target="OpenCitations_Data_Management_Plan.json" TargetMode="Externa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hyperlink" Target="Translator.py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hyperlink" Target="OpenCitations_Data_Management_Plan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5572125" cy="6858000"/>
          </a:xfrm>
          <a:prstGeom prst="rect">
            <a:avLst/>
          </a:prstGeom>
          <a:solidFill>
            <a:srgbClr val="FBF7F0"/>
          </a:solidFill>
          <a:ln w="0">
            <a:noFill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66750" y="838200"/>
            <a:ext cx="323850" cy="0"/>
          </a:xfrm>
          <a:prstGeom prst="line">
            <a:avLst/>
          </a:prstGeom>
          <a:noFill/>
          <a:ln w="19050">
            <a:solidFill>
              <a:srgbClr val="D88A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3950" y="714375"/>
            <a:ext cx="4441825" cy="307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1" i="0">
                <a:solidFill>
                  <a:srgbClr val="A7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A766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SCIENCE · OPENCITATIONS · DATA MANAGEMENT PLAN</a:t>
            </a:r>
            <a:endParaRPr sz="1050" b="1" i="0">
              <a:solidFill>
                <a:srgbClr val="A766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1180" y="2600325"/>
            <a:ext cx="5565140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lnSpcReduction="20000"/>
          </a:bodyPr>
          <a:lstStyle/>
          <a:p>
            <a:pPr algn="l">
              <a:lnSpc>
                <a:spcPct val="98000"/>
              </a:lnSpc>
              <a:buNone/>
              <a:defRPr sz="435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43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OpenCitations Data</a:t>
            </a:r>
            <a:endParaRPr sz="435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l">
              <a:lnSpc>
                <a:spcPct val="98000"/>
              </a:lnSpc>
              <a:buNone/>
              <a:defRPr sz="435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43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Management Plan</a:t>
            </a:r>
            <a:r>
              <a:rPr lang="en-US" sz="43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 Project</a:t>
            </a:r>
            <a:endParaRPr lang="en-US" sz="435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619750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buNone/>
              <a:defRPr sz="1275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4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Yifan Wu</a:t>
            </a:r>
            <a:endParaRPr sz="14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l">
              <a:lnSpc>
                <a:spcPct val="135000"/>
              </a:lnSpc>
              <a:buNone/>
              <a:defRPr sz="1275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4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Open Science · a.y. 2025/2026</a:t>
            </a:r>
            <a:endParaRPr sz="14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884150" y="21285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直接连接符 8"/>
          <p:cNvSpPr>
            <a:spLocks noGrp="1"/>
          </p:cNvSpPr>
          <p:nvPr/>
        </p:nvSpPr>
        <p:spPr>
          <a:xfrm>
            <a:off x="552450" y="333375"/>
            <a:ext cx="228600" cy="0"/>
          </a:xfrm>
          <a:prstGeom prst="line">
            <a:avLst/>
          </a:prstGeom>
          <a:noFill/>
          <a:ln w="19050">
            <a:solidFill>
              <a:srgbClr val="D88A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23900"/>
            <a:ext cx="685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31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OpenCitations</a:t>
            </a:r>
            <a:endParaRPr sz="315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26873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5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500" b="1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infrastructure for bibliographic metadata and citation data.</a:t>
            </a:r>
            <a:endParaRPr lang="en-US" altLang="zh-CN" sz="1500" b="1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855" y="980440"/>
            <a:ext cx="5980430" cy="461899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23570" y="2278380"/>
            <a:ext cx="5660390" cy="27324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ClrTx/>
              <a:buSzTx/>
              <a:buFontTx/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It represents citations as explicit, queryable relationships between scholarly works</a:t>
            </a:r>
            <a:endParaRPr sz="16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  <a:buClrTx/>
              <a:buSzTx/>
              <a:buFontTx/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Meta manages the bibliographic entities involved in citations and their metadata</a:t>
            </a:r>
            <a:r>
              <a:rPr lang="en-US" sz="16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(</a:t>
            </a:r>
            <a:r>
              <a:rPr sz="16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titles, authors, publication venues, identifiers, and provenance</a:t>
            </a:r>
            <a:r>
              <a:rPr lang="en-US" sz="16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).</a:t>
            </a:r>
            <a:endParaRPr sz="16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  <a:buClrTx/>
              <a:buSzTx/>
              <a:buFontTx/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Index manages the citation relationships between those entities.</a:t>
            </a:r>
            <a:endParaRPr sz="16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  <a:buClrTx/>
              <a:buSzTx/>
              <a:buFontTx/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OCDM provides the shared data model that defines how scholarly entities, identifiers, citations, and provenance are represented consistently.</a:t>
            </a:r>
            <a:endParaRPr sz="16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  <a:buClrTx/>
              <a:buSzTx/>
              <a:buFontTx/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endParaRPr sz="16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629410"/>
            <a:ext cx="5845810" cy="758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4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OpenCitations collects, organizes, and publishes scholarly citation data as reusable open data.</a:t>
            </a:r>
            <a:endParaRPr lang="en-US" altLang="zh-CN" sz="14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39470" y="234315"/>
            <a:ext cx="4441825" cy="307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1" i="0">
                <a:solidFill>
                  <a:srgbClr val="A7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A766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SCIENCE · OPENCITATIONS · DATA MANAGEMENT PLAN</a:t>
            </a:r>
            <a:endParaRPr sz="1050" b="1" i="0">
              <a:solidFill>
                <a:srgbClr val="A766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15" y="4796790"/>
            <a:ext cx="1906270" cy="1903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直接连接符 10"/>
          <p:cNvSpPr>
            <a:spLocks noGrp="1"/>
          </p:cNvSpPr>
          <p:nvPr/>
        </p:nvSpPr>
        <p:spPr>
          <a:xfrm>
            <a:off x="552450" y="333375"/>
            <a:ext cx="228600" cy="0"/>
          </a:xfrm>
          <a:prstGeom prst="line">
            <a:avLst/>
          </a:prstGeom>
          <a:noFill/>
          <a:ln w="19050">
            <a:solidFill>
              <a:srgbClr val="D88A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23900"/>
            <a:ext cx="685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31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OCDM </a:t>
            </a:r>
            <a:endParaRPr sz="315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223010"/>
            <a:ext cx="4822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00" lnSpcReduction="20000"/>
          </a:bodyPr>
          <a:lstStyle/>
          <a:p>
            <a:pPr algn="l">
              <a:lnSpc>
                <a:spcPct val="125000"/>
              </a:lnSpc>
              <a:buNone/>
              <a:defRPr sz="15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5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 shared semantic model for scholarly entities, citations, identifiers, and provenance.</a:t>
            </a:r>
            <a:endParaRPr lang="en-US" altLang="zh-CN" sz="15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1880235"/>
            <a:ext cx="478726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0000"/>
          </a:bodyPr>
          <a:lstStyle/>
          <a:p>
            <a:pPr algn="l">
              <a:lnSpc>
                <a:spcPct val="110000"/>
              </a:lnSpc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21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The OpenCitations Data Model (OCDM) defines how scholarly information is represented and connected.</a:t>
            </a:r>
            <a:endParaRPr lang="en-US" altLang="zh-CN" sz="21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31990" y="4509135"/>
            <a:ext cx="4879340" cy="195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It provides a common structure for publications, authors, identifiers, citation relationships, publication venues, and provenance.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OCDM reuses established Semantic Web ontologies to express data from different sources in a consistent and interoperable form.</a:t>
            </a:r>
            <a:endParaRPr sz="18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It represents scholarly entities together with their relationships, such as an author writing a paper, one paper citing another, or an identifier referring to a scholarly resource.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9510" y="333375"/>
            <a:ext cx="5095875" cy="382206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39470" y="234315"/>
            <a:ext cx="4441825" cy="307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1" i="0">
                <a:solidFill>
                  <a:srgbClr val="A7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A766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SCIENCE · OPENCITATIONS · DATA MANAGEMENT PLAN</a:t>
            </a:r>
            <a:endParaRPr sz="1050" b="1" i="0">
              <a:solidFill>
                <a:srgbClr val="A766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50545" y="2493645"/>
          <a:ext cx="5688965" cy="355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5383953"/>
              </a:tblGrid>
              <a:tr h="381000"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ID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Description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P1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A classification of the type of citation (e.g. self-citation)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P2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The bibliographic metadata of the citing and cited bibliographic entities (e.g. type of published entity, identifiers, authors, contributors, publication date, publication venues, publication formats)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P3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The bibliographic reference, typically found within the reference list of the citing bibliographic entity, that references a cited bibliographic entity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P4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The separate identifiers of all the in-text reference pointers included in the text of the citing entity, that denote bibliographic references within the reference list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P5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The co-occurrence of in-text reference pointers within each in-text reference pointer lists (e.g. “[3,5,12]”)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P6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The identifiers of structural elements (e.g. XPath of sentences, paragraphs, captions) that specify where, in the full text, an in-text reference pointer appears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P7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The function or purpose of the citation (e.g. to cite as background, extend, or agree with the cited entity) to which each in-text reference pointer relates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P8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Provenance information of the citation extraction process (e.g. responsible agents, data sources, extraction dates)</a:t>
                      </a:r>
                      <a:endParaRPr lang="en-US" altLang="zh-CN" sz="11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83235" y="616585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Table. Representational requirements of the OpenCitations Data Model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直接连接符 45"/>
          <p:cNvSpPr>
            <a:spLocks noGrp="1"/>
          </p:cNvSpPr>
          <p:nvPr/>
        </p:nvSpPr>
        <p:spPr>
          <a:xfrm>
            <a:off x="552450" y="333375"/>
            <a:ext cx="228600" cy="0"/>
          </a:xfrm>
          <a:prstGeom prst="line">
            <a:avLst/>
          </a:prstGeom>
          <a:noFill/>
          <a:ln w="19050">
            <a:solidFill>
              <a:srgbClr val="D88A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9425" y="692150"/>
            <a:ext cx="4191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27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OCDM layers</a:t>
            </a:r>
            <a:endParaRPr lang="en-US" altLang="zh-CN" sz="27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1260475"/>
            <a:ext cx="4212590" cy="4949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1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Data Model: OCDM</a:t>
            </a:r>
            <a:endParaRPr lang="en-US" altLang="zh-CN" sz="1000" b="1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Defines the shared representation of scholarly entities, citations, identifiers, and provenance.</a:t>
            </a:r>
            <a:endParaRPr lang="en-US" altLang="zh-CN" sz="10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10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1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Collections: Meta &amp; Index</a:t>
            </a:r>
            <a:endParaRPr lang="en-US" altLang="zh-CN" sz="1000" b="1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Meta stores bibliographic metadata and identifiers.</a:t>
            </a:r>
            <a:endParaRPr lang="en-US" altLang="zh-CN" sz="10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Index stores citation relationships between scholarly entities.</a:t>
            </a:r>
            <a:endParaRPr lang="en-US" altLang="zh-CN" sz="10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10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1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Software: oc_meta · oc-index · oc_ocdm</a:t>
            </a:r>
            <a:endParaRPr lang="en-US" altLang="zh-CN" sz="1000" b="1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oc_meta curates bibliographic metadata and generates OCDM-compliant RDF.</a:t>
            </a:r>
            <a:endParaRPr lang="en-US" altLang="zh-CN" sz="10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oc-index constructs citation data and maps citation endpoints to OpenCitations identifiers.</a:t>
            </a:r>
            <a:endParaRPr lang="en-US" altLang="zh-CN" sz="10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oc_ocdm provides a Python interface for creating and manipulating OCDM-compliant RDF.</a:t>
            </a:r>
            <a:endParaRPr lang="en-US" altLang="zh-CN" sz="10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1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Quality Control: Validator &amp; Monitor</a:t>
            </a:r>
            <a:endParaRPr lang="en-US" altLang="zh-CN" sz="1000" b="1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The Validator checks data before ingestion.</a:t>
            </a:r>
            <a:endParaRPr lang="en-US" altLang="zh-CN" sz="10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The Monitor checks published collections for known data-quality issues.</a:t>
            </a:r>
            <a:endParaRPr lang="en-US" altLang="zh-CN" sz="10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2000"/>
              </a:lnSpc>
              <a:buNone/>
              <a:defRPr sz="13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Together, these layers connect the data model, scholarly collections, software workflows, and quality-control processes of OpenCitations.</a:t>
            </a:r>
            <a:endParaRPr lang="en-US" altLang="zh-CN" sz="10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860290" y="1076960"/>
            <a:ext cx="6762750" cy="800100"/>
          </a:xfrm>
          <a:prstGeom prst="rect">
            <a:avLst/>
          </a:prstGeom>
          <a:solidFill>
            <a:srgbClr val="173F59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050790" y="1248410"/>
            <a:ext cx="6381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825" b="1" i="0">
                <a:solidFill>
                  <a:srgbClr val="F0B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825" b="1" i="0">
                <a:solidFill>
                  <a:srgbClr val="F0BE79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Science Infrastucture</a:t>
            </a:r>
            <a:endParaRPr lang="en-US" sz="825" b="1" i="0">
              <a:solidFill>
                <a:srgbClr val="F0BE79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050790" y="1438910"/>
            <a:ext cx="638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650" b="1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OpenCitations</a:t>
            </a:r>
            <a:endParaRPr sz="1650" b="1" i="0">
              <a:solidFill>
                <a:srgbClr val="FFFFFF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60290" y="2010410"/>
            <a:ext cx="6762750" cy="895350"/>
          </a:xfrm>
          <a:prstGeom prst="rect">
            <a:avLst/>
          </a:prstGeom>
          <a:solidFill>
            <a:srgbClr val="E5ECEC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4993640" y="2296160"/>
            <a:ext cx="323850" cy="323850"/>
          </a:xfrm>
          <a:prstGeom prst="ellipse">
            <a:avLst/>
          </a:prstGeom>
          <a:solidFill>
            <a:srgbClr val="2F667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993640" y="2372360"/>
            <a:ext cx="3238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 i="0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01</a:t>
            </a:r>
            <a:endParaRPr sz="825" b="1" i="0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431790" y="233426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35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Data Model</a:t>
            </a:r>
            <a:endParaRPr sz="135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12915" y="2162810"/>
            <a:ext cx="4667250" cy="590550"/>
          </a:xfrm>
          <a:prstGeom prst="rect">
            <a:avLst/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89115" y="2248535"/>
            <a:ext cx="4514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25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125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OCDM</a:t>
            </a:r>
            <a:endParaRPr sz="1125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89115" y="2477135"/>
            <a:ext cx="4514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9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shared representation rules</a:t>
            </a:r>
            <a:endParaRPr sz="9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860290" y="3039110"/>
            <a:ext cx="6762750" cy="895350"/>
          </a:xfrm>
          <a:prstGeom prst="rect">
            <a:avLst/>
          </a:prstGeom>
          <a:solidFill>
            <a:srgbClr val="EDF3F3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4993640" y="3324860"/>
            <a:ext cx="323850" cy="323850"/>
          </a:xfrm>
          <a:prstGeom prst="ellipse">
            <a:avLst/>
          </a:prstGeom>
          <a:solidFill>
            <a:srgbClr val="2F6675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993640" y="3401060"/>
            <a:ext cx="3238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 i="0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02</a:t>
            </a:r>
            <a:endParaRPr sz="825" b="1" i="0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431790" y="336296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35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Collections</a:t>
            </a:r>
            <a:endParaRPr sz="135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12915" y="3191510"/>
            <a:ext cx="2286000" cy="590550"/>
          </a:xfrm>
          <a:prstGeom prst="rect">
            <a:avLst/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889115" y="3277235"/>
            <a:ext cx="21336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25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125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Meta</a:t>
            </a:r>
            <a:endParaRPr sz="1125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89115" y="3505835"/>
            <a:ext cx="2133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9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bibliographic metadata</a:t>
            </a:r>
            <a:endParaRPr sz="9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94165" y="3191510"/>
            <a:ext cx="2286000" cy="590550"/>
          </a:xfrm>
          <a:prstGeom prst="rect">
            <a:avLst/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270365" y="3277235"/>
            <a:ext cx="21336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25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125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Index</a:t>
            </a:r>
            <a:endParaRPr sz="1125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70365" y="3505835"/>
            <a:ext cx="2133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9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citation relationships</a:t>
            </a:r>
            <a:endParaRPr sz="9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860290" y="4067810"/>
            <a:ext cx="6762750" cy="895350"/>
          </a:xfrm>
          <a:prstGeom prst="rect">
            <a:avLst/>
          </a:prstGeom>
          <a:solidFill>
            <a:srgbClr val="E5ECEC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4993640" y="4353560"/>
            <a:ext cx="323850" cy="323850"/>
          </a:xfrm>
          <a:prstGeom prst="ellipse">
            <a:avLst/>
          </a:prstGeom>
          <a:solidFill>
            <a:srgbClr val="2F6675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993640" y="4429760"/>
            <a:ext cx="3238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 i="0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03</a:t>
            </a:r>
            <a:endParaRPr sz="825" b="1" i="0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431790" y="439166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35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Software</a:t>
            </a:r>
            <a:endParaRPr sz="135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12915" y="4220210"/>
            <a:ext cx="1492250" cy="590550"/>
          </a:xfrm>
          <a:prstGeom prst="rect">
            <a:avLst/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889115" y="4305935"/>
            <a:ext cx="1339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25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125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oc_meta</a:t>
            </a:r>
            <a:endParaRPr sz="1125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889115" y="4534535"/>
            <a:ext cx="1339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9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metadata curation</a:t>
            </a:r>
            <a:endParaRPr sz="9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400415" y="4220210"/>
            <a:ext cx="1492250" cy="590550"/>
          </a:xfrm>
          <a:prstGeom prst="rect">
            <a:avLst/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476615" y="4305935"/>
            <a:ext cx="1339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25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125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oc-index</a:t>
            </a:r>
            <a:endParaRPr sz="1125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76615" y="4534535"/>
            <a:ext cx="1339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9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citation construction</a:t>
            </a:r>
            <a:endParaRPr sz="9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987915" y="4220210"/>
            <a:ext cx="1492250" cy="590550"/>
          </a:xfrm>
          <a:prstGeom prst="rect">
            <a:avLst/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064115" y="4305935"/>
            <a:ext cx="1339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25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125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oc_ocdm</a:t>
            </a:r>
            <a:endParaRPr sz="1125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064115" y="4534535"/>
            <a:ext cx="1339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9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OCDM data interface</a:t>
            </a:r>
            <a:endParaRPr sz="9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860290" y="5096510"/>
            <a:ext cx="6762750" cy="742950"/>
          </a:xfrm>
          <a:prstGeom prst="rect">
            <a:avLst/>
          </a:prstGeom>
          <a:solidFill>
            <a:srgbClr val="F2E1C4"/>
          </a:solidFill>
          <a:ln w="9525">
            <a:solidFill>
              <a:srgbClr val="DFC18F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050790" y="530606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403"/>
          </a:bodyPr>
          <a:lstStyle/>
          <a:p>
            <a:pPr algn="l">
              <a:lnSpc>
                <a:spcPct val="110000"/>
              </a:lnSpc>
              <a:buNone/>
              <a:defRPr sz="1050" b="1" i="0">
                <a:solidFill>
                  <a:srgbClr val="8A5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8A541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SUPPORTING QUALITY CONTROL</a:t>
            </a:r>
            <a:endParaRPr sz="1050" b="1" i="0">
              <a:solidFill>
                <a:srgbClr val="8A541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432040" y="5325110"/>
            <a:ext cx="3857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275" b="1" i="0">
                <a:solidFill>
                  <a:srgbClr val="8A541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1" i="0">
                <a:solidFill>
                  <a:srgbClr val="8A541F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Validator   pre-ingestion        Monitor   post-ingestion</a:t>
            </a:r>
            <a:endParaRPr sz="1275" b="1" i="0">
              <a:solidFill>
                <a:srgbClr val="8A541F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39470" y="234315"/>
            <a:ext cx="4441825" cy="307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1" i="0">
                <a:solidFill>
                  <a:srgbClr val="A7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A766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SCIENCE · OPENCITATIONS · DATA MANAGEMENT PLAN</a:t>
            </a:r>
            <a:endParaRPr sz="1050" b="1" i="0">
              <a:solidFill>
                <a:srgbClr val="A766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直接连接符 9"/>
          <p:cNvSpPr>
            <a:spLocks noGrp="1"/>
          </p:cNvSpPr>
          <p:nvPr/>
        </p:nvSpPr>
        <p:spPr>
          <a:xfrm>
            <a:off x="552450" y="333375"/>
            <a:ext cx="228600" cy="0"/>
          </a:xfrm>
          <a:prstGeom prst="line">
            <a:avLst/>
          </a:prstGeom>
          <a:noFill/>
          <a:ln w="19050">
            <a:solidFill>
              <a:srgbClr val="D88A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23900"/>
            <a:ext cx="685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31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Argos</a:t>
            </a:r>
            <a:r>
              <a:rPr lang="en-US" sz="31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, 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DMP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  <a:r>
              <a:rPr sz="31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 and Description</a:t>
            </a:r>
            <a:endParaRPr sz="315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4853305"/>
            <a:ext cx="5058410" cy="7029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1200" b="1">
                <a:solidFill>
                  <a:srgbClr val="FCAA4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DMP - </a:t>
            </a:r>
            <a:r>
              <a:rPr lang="en-US" altLang="zh-CN" sz="1200" b="0">
                <a:solidFill>
                  <a:srgbClr val="FCAA4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overall management plan</a:t>
            </a:r>
            <a:endParaRPr lang="en-US" altLang="zh-CN" sz="1200" b="0" i="0">
              <a:solidFill>
                <a:srgbClr val="FCAA4D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1200" b="1">
                <a:solidFill>
                  <a:srgbClr val="FCAA4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Argos - </a:t>
            </a:r>
            <a:r>
              <a:rPr lang="en-US" altLang="zh-CN" sz="1200" b="0">
                <a:solidFill>
                  <a:srgbClr val="FCAA4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platform that structures and records the plan</a:t>
            </a:r>
            <a:endParaRPr lang="en-US" altLang="zh-CN" sz="1200" b="0" i="0">
              <a:solidFill>
                <a:srgbClr val="FCAA4D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1200" b="1">
                <a:solidFill>
                  <a:srgbClr val="FCAA4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Description - </a:t>
            </a:r>
            <a:r>
              <a:rPr lang="en-US" altLang="zh-CN" sz="1200" b="0">
                <a:solidFill>
                  <a:srgbClr val="FCAA4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management record for one research output</a:t>
            </a:r>
            <a:endParaRPr lang="en-US" altLang="zh-CN" sz="1200" b="0" i="0">
              <a:solidFill>
                <a:srgbClr val="FCAA4D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  <a:buNone/>
              <a:defRPr sz="1800" b="1" i="0">
                <a:solidFill>
                  <a:srgbClr val="D88A32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sz="1200" b="1" i="0">
                <a:solidFill>
                  <a:srgbClr val="FCAA4D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 </a:t>
            </a:r>
            <a:endParaRPr lang="en-US" sz="1200" b="1" i="0">
              <a:solidFill>
                <a:srgbClr val="FCAA4D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0145" y="980440"/>
            <a:ext cx="5048250" cy="504825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571500" y="1438275"/>
            <a:ext cx="524129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00" lnSpcReduction="20000"/>
          </a:bodyPr>
          <a:lstStyle/>
          <a:p>
            <a:pPr algn="l">
              <a:lnSpc>
                <a:spcPct val="125000"/>
              </a:lnSpc>
              <a:buNone/>
              <a:defRPr sz="15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5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DMP is a structured way to plan and document the management of research outputs</a:t>
            </a:r>
            <a:endParaRPr lang="en-US" altLang="zh-CN" sz="15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5000"/>
              </a:lnSpc>
              <a:buNone/>
              <a:defRPr sz="15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15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0" name="Lifecycle direction 1"/>
          <p:cNvSpPr/>
          <p:nvPr/>
        </p:nvSpPr>
        <p:spPr>
          <a:xfrm rot="2520000">
            <a:off x="9893808" y="1572768"/>
            <a:ext cx="201168" cy="73152"/>
          </a:xfrm>
          <a:prstGeom prst="rightArrow">
            <a:avLst/>
          </a:prstGeom>
          <a:solidFill>
            <a:srgbClr val="2F6B85"/>
          </a:solidFill>
          <a:ln w="0">
            <a:noFill/>
          </a:ln>
        </p:spPr>
      </p:sp>
      <p:sp>
        <p:nvSpPr>
          <p:cNvPr id="21" name="Lifecycle direction 2"/>
          <p:cNvSpPr/>
          <p:nvPr/>
        </p:nvSpPr>
        <p:spPr>
          <a:xfrm rot="5280000">
            <a:off x="10954512" y="2834640"/>
            <a:ext cx="201168" cy="73152"/>
          </a:xfrm>
          <a:prstGeom prst="rightArrow">
            <a:avLst/>
          </a:prstGeom>
          <a:solidFill>
            <a:srgbClr val="2F6B85"/>
          </a:solidFill>
          <a:ln w="0">
            <a:noFill/>
          </a:ln>
        </p:spPr>
      </p:sp>
      <p:sp>
        <p:nvSpPr>
          <p:cNvPr id="22" name="Lifecycle direction 3"/>
          <p:cNvSpPr/>
          <p:nvPr/>
        </p:nvSpPr>
        <p:spPr>
          <a:xfrm rot="8160000">
            <a:off x="10643616" y="4645152"/>
            <a:ext cx="201168" cy="73152"/>
          </a:xfrm>
          <a:prstGeom prst="rightArrow">
            <a:avLst/>
          </a:prstGeom>
          <a:solidFill>
            <a:srgbClr val="2F6B85"/>
          </a:solidFill>
          <a:ln w="0">
            <a:noFill/>
          </a:ln>
        </p:spPr>
      </p:sp>
      <p:sp>
        <p:nvSpPr>
          <p:cNvPr id="23" name="Lifecycle direction 4"/>
          <p:cNvSpPr/>
          <p:nvPr/>
        </p:nvSpPr>
        <p:spPr>
          <a:xfrm rot="10800000">
            <a:off x="9308592" y="5843016"/>
            <a:ext cx="201168" cy="73152"/>
          </a:xfrm>
          <a:prstGeom prst="rightArrow">
            <a:avLst/>
          </a:prstGeom>
          <a:solidFill>
            <a:srgbClr val="2F6B85"/>
          </a:solidFill>
          <a:ln w="0">
            <a:noFill/>
          </a:ln>
        </p:spPr>
      </p:sp>
      <p:sp>
        <p:nvSpPr>
          <p:cNvPr id="24" name="Lifecycle direction 5"/>
          <p:cNvSpPr/>
          <p:nvPr/>
        </p:nvSpPr>
        <p:spPr>
          <a:xfrm rot="13560000">
            <a:off x="7635240" y="5596128"/>
            <a:ext cx="201168" cy="73152"/>
          </a:xfrm>
          <a:prstGeom prst="rightArrow">
            <a:avLst/>
          </a:prstGeom>
          <a:solidFill>
            <a:srgbClr val="2F6B85"/>
          </a:solidFill>
          <a:ln w="0">
            <a:noFill/>
          </a:ln>
        </p:spPr>
      </p:sp>
      <p:sp>
        <p:nvSpPr>
          <p:cNvPr id="25" name="Lifecycle direction 6"/>
          <p:cNvSpPr/>
          <p:nvPr/>
        </p:nvSpPr>
        <p:spPr>
          <a:xfrm rot="16200000">
            <a:off x="6236208" y="3941064"/>
            <a:ext cx="201168" cy="73152"/>
          </a:xfrm>
          <a:prstGeom prst="rightArrow">
            <a:avLst/>
          </a:prstGeom>
          <a:solidFill>
            <a:srgbClr val="2F6B85"/>
          </a:solidFill>
          <a:ln w="0">
            <a:noFill/>
          </a:ln>
        </p:spPr>
      </p:sp>
      <p:sp>
        <p:nvSpPr>
          <p:cNvPr id="26" name="Lifecycle direction 7"/>
          <p:cNvSpPr/>
          <p:nvPr/>
        </p:nvSpPr>
        <p:spPr>
          <a:xfrm rot="18960000">
            <a:off x="6757416" y="1947672"/>
            <a:ext cx="201168" cy="73152"/>
          </a:xfrm>
          <a:prstGeom prst="rightArrow">
            <a:avLst/>
          </a:prstGeom>
          <a:solidFill>
            <a:srgbClr val="2F6B85"/>
          </a:solidFill>
          <a:ln w="0">
            <a:noFill/>
          </a:ln>
        </p:spPr>
      </p:sp>
      <p:sp>
        <p:nvSpPr>
          <p:cNvPr id="27" name="Lifecycle label 1"/>
          <p:cNvSpPr txBox="1"/>
          <p:nvPr/>
        </p:nvSpPr>
        <p:spPr>
          <a:xfrm>
            <a:off x="8256143" y="960120"/>
            <a:ext cx="960120" cy="256032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9525">
            <a:solidFill>
              <a:srgbClr val="D88A32"/>
            </a:solidFill>
            <a:prstDash val="solid"/>
          </a:ln>
        </p:spPr>
        <p:txBody>
          <a:bodyPr wrap="square" lIns="45720" tIns="0" rIns="4572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05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Create</a:t>
            </a:r>
            <a:endParaRPr sz="105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28" name="Lifecycle label 2"/>
          <p:cNvSpPr txBox="1"/>
          <p:nvPr/>
        </p:nvSpPr>
        <p:spPr>
          <a:xfrm>
            <a:off x="10333355" y="1930400"/>
            <a:ext cx="1023620" cy="27305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9525">
            <a:solidFill>
              <a:srgbClr val="D88A32"/>
            </a:solidFill>
            <a:prstDash val="solid"/>
          </a:ln>
        </p:spPr>
        <p:txBody>
          <a:bodyPr wrap="square" lIns="45720" tIns="0" rIns="4572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05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Describe</a:t>
            </a:r>
            <a:endParaRPr sz="105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29" name="Lifecycle label 3"/>
          <p:cNvSpPr txBox="1"/>
          <p:nvPr/>
        </p:nvSpPr>
        <p:spPr>
          <a:xfrm>
            <a:off x="10716768" y="3456432"/>
            <a:ext cx="987552" cy="256032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9525">
            <a:solidFill>
              <a:srgbClr val="D88A32"/>
            </a:solidFill>
            <a:prstDash val="solid"/>
          </a:ln>
        </p:spPr>
        <p:txBody>
          <a:bodyPr wrap="square" lIns="45720" tIns="0" rIns="4572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05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Organise</a:t>
            </a:r>
            <a:endParaRPr sz="105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30" name="Lifecycle label 4"/>
          <p:cNvSpPr txBox="1"/>
          <p:nvPr/>
        </p:nvSpPr>
        <p:spPr>
          <a:xfrm>
            <a:off x="9921240" y="5248656"/>
            <a:ext cx="749808" cy="256032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9525">
            <a:solidFill>
              <a:srgbClr val="D88A32"/>
            </a:solidFill>
            <a:prstDash val="solid"/>
          </a:ln>
        </p:spPr>
        <p:txBody>
          <a:bodyPr wrap="square" lIns="45720" tIns="0" rIns="4572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05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Store</a:t>
            </a:r>
            <a:endParaRPr sz="105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31" name="Lifecycle label 5"/>
          <p:cNvSpPr txBox="1"/>
          <p:nvPr/>
        </p:nvSpPr>
        <p:spPr>
          <a:xfrm>
            <a:off x="8394192" y="5650992"/>
            <a:ext cx="749808" cy="256032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9525">
            <a:solidFill>
              <a:srgbClr val="D88A32"/>
            </a:solidFill>
            <a:prstDash val="solid"/>
          </a:ln>
        </p:spPr>
        <p:txBody>
          <a:bodyPr wrap="square" lIns="45720" tIns="0" rIns="4572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05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Share</a:t>
            </a:r>
            <a:endParaRPr sz="105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32" name="Lifecycle label 6"/>
          <p:cNvSpPr txBox="1"/>
          <p:nvPr/>
        </p:nvSpPr>
        <p:spPr>
          <a:xfrm>
            <a:off x="5980176" y="4654296"/>
            <a:ext cx="1024128" cy="256032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9525">
            <a:solidFill>
              <a:srgbClr val="D88A32"/>
            </a:solidFill>
            <a:prstDash val="solid"/>
          </a:ln>
        </p:spPr>
        <p:txBody>
          <a:bodyPr wrap="square" lIns="45720" tIns="0" rIns="4572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05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Preserve</a:t>
            </a:r>
            <a:endParaRPr sz="105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33" name="Lifecycle label 7"/>
          <p:cNvSpPr txBox="1"/>
          <p:nvPr/>
        </p:nvSpPr>
        <p:spPr>
          <a:xfrm>
            <a:off x="5925312" y="2615184"/>
            <a:ext cx="804672" cy="256032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9525">
            <a:solidFill>
              <a:srgbClr val="D88A32"/>
            </a:solidFill>
            <a:prstDash val="solid"/>
          </a:ln>
        </p:spPr>
        <p:txBody>
          <a:bodyPr wrap="square" lIns="45720" tIns="0" rIns="4572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05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Reuse</a:t>
            </a:r>
            <a:endParaRPr sz="105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34" name="Lifecycle summary"/>
          <p:cNvSpPr txBox="1"/>
          <p:nvPr/>
        </p:nvSpPr>
        <p:spPr>
          <a:xfrm>
            <a:off x="5925312" y="6291072"/>
            <a:ext cx="5742432" cy="256032"/>
          </a:xfrm>
          <a:prstGeom prst="roundRect">
            <a:avLst>
              <a:gd name="adj" fmla="val 9000"/>
            </a:avLst>
          </a:prstGeom>
          <a:noFill/>
          <a:ln w="0">
            <a:noFill/>
          </a:ln>
        </p:spPr>
        <p:txBody>
          <a:bodyPr wrap="square" lIns="45720" tIns="0" rIns="45720" bIns="0" anchor="ctr">
            <a:normAutofit/>
          </a:bodyPr>
          <a:lstStyle/>
          <a:p>
            <a:pPr algn="ctr">
              <a:buNone/>
              <a:defRPr sz="9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95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A DMP connects management decisions across the entire lifecycle of a research output</a:t>
            </a:r>
            <a:endParaRPr sz="95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3" name="Lifecycle label 1"/>
          <p:cNvSpPr txBox="1"/>
          <p:nvPr/>
        </p:nvSpPr>
        <p:spPr>
          <a:xfrm>
            <a:off x="8256270" y="3272790"/>
            <a:ext cx="1134745" cy="51435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9525">
            <a:solidFill>
              <a:srgbClr val="D88A32"/>
            </a:solidFill>
            <a:prstDash val="solid"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  <a:defRPr sz="105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sz="3200" b="1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DMP</a:t>
            </a:r>
            <a:endParaRPr lang="en-US" sz="3200" b="1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9425" y="2060575"/>
            <a:ext cx="503364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sz="140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A Data Management Plan (DMP) records how research outputs are managed throughout their lifecycle.</a:t>
            </a:r>
            <a:endParaRPr sz="140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just"/>
            <a:r>
              <a:rPr sz="140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It covers how resources are created, described, organised, stored, shared, preserved and reused, together with responsibilities, access conditions, licensing, quality and security.</a:t>
            </a:r>
            <a:endParaRPr sz="140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just"/>
            <a:r>
              <a:rPr sz="140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Argos provides the structured environment for creating the DMP.</a:t>
            </a:r>
            <a:endParaRPr sz="140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just"/>
            <a:r>
              <a:rPr sz="140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It organises management information into sections and questions and keeps project-level information together within one </a:t>
            </a:r>
            <a:r>
              <a:rPr lang="en-US" sz="1400" b="1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p</a:t>
            </a:r>
            <a:r>
              <a:rPr sz="1400" b="1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lan</a:t>
            </a:r>
            <a:r>
              <a:rPr sz="140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.</a:t>
            </a:r>
            <a:endParaRPr sz="140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just"/>
            <a:r>
              <a:rPr sz="140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Each research output has its own </a:t>
            </a:r>
            <a:r>
              <a:rPr lang="en-US" sz="1400" b="1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d</a:t>
            </a:r>
            <a:r>
              <a:rPr sz="1400" b="1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escription</a:t>
            </a:r>
            <a:r>
              <a:rPr lang="en-US" sz="1400" b="1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s</a:t>
            </a:r>
            <a:r>
              <a:rPr sz="140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.</a:t>
            </a:r>
            <a:endParaRPr sz="140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  <a:p>
            <a:pPr algn="just"/>
            <a:r>
              <a:rPr sz="140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A </a:t>
            </a:r>
            <a:r>
              <a:rPr lang="en-US" sz="1400" b="1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d</a:t>
            </a:r>
            <a:r>
              <a:rPr sz="1400" b="1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escription</a:t>
            </a:r>
            <a:r>
              <a:rPr sz="140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 applies the DMP framework to one specific resource and records its characteristics, access, preservation, FAIR practices, quality and responsibilities.</a:t>
            </a:r>
            <a:endParaRPr sz="140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9470" y="234315"/>
            <a:ext cx="4441825" cy="307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1" i="0">
                <a:solidFill>
                  <a:srgbClr val="A7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A766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SCIENCE · OPENCITATIONS · DATA MANAGEMENT PLAN</a:t>
            </a:r>
            <a:endParaRPr sz="1050" b="1" i="0">
              <a:solidFill>
                <a:srgbClr val="A766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D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875155" y="476885"/>
            <a:ext cx="4198620" cy="4203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00"/>
          </a:bodyPr>
          <a:lstStyle/>
          <a:p>
            <a:pPr algn="ctr">
              <a:lnSpc>
                <a:spcPct val="110000"/>
              </a:lnSpc>
              <a:buNone/>
              <a:defRPr sz="2775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sz="2775" b="0" i="0">
                <a:ln w="12700">
                  <a:solidFill>
                    <a:schemeClr val="accent6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DESCRIPTIONS</a:t>
            </a:r>
            <a:endParaRPr lang="en-US" sz="2775" b="0" i="0">
              <a:ln w="12700">
                <a:solidFill>
                  <a:schemeClr val="accent6"/>
                </a:solidFill>
                <a:prstDash val="solid"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783840" y="1085215"/>
            <a:ext cx="1960880" cy="2895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00"/>
          </a:bodyPr>
          <a:lstStyle/>
          <a:p>
            <a:pPr algn="l">
              <a:lnSpc>
                <a:spcPct val="110000"/>
              </a:lnSpc>
              <a:buNone/>
              <a:defRPr sz="1125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D88A3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01  YOUR RESEARCH OUTPUT</a:t>
            </a:r>
            <a:endParaRPr sz="1125" b="1" i="0">
              <a:solidFill>
                <a:srgbClr val="D88A3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207895" y="1828800"/>
            <a:ext cx="3429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0000"/>
              </a:lnSpc>
              <a:buNone/>
              <a:defRPr sz="1125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1.1. </a:t>
            </a:r>
            <a:r>
              <a:rPr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Contact details and responsibilities</a:t>
            </a:r>
            <a:endParaRPr sz="1125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0000"/>
              </a:lnSpc>
              <a:buNone/>
              <a:defRPr sz="1125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1.2. </a:t>
            </a:r>
            <a:r>
              <a:rPr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Resources for data management</a:t>
            </a:r>
            <a:endParaRPr sz="1125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0000"/>
              </a:lnSpc>
              <a:buNone/>
              <a:defRPr sz="1125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1.3. </a:t>
            </a:r>
            <a:r>
              <a:rPr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Identifying the research output</a:t>
            </a:r>
            <a:endParaRPr sz="1125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83840" y="36449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125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D88A3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02  SUMMARY</a:t>
            </a:r>
            <a:endParaRPr sz="1125" b="1" i="0">
              <a:solidFill>
                <a:srgbClr val="D88A3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206625" y="4580255"/>
            <a:ext cx="34290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0000"/>
              </a:lnSpc>
              <a:buNone/>
              <a:defRPr sz="1125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2.1. </a:t>
            </a:r>
            <a:r>
              <a:rPr lang="en-US" altLang="zh-CN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Identification of the dataset (Identification of software)</a:t>
            </a:r>
            <a:endParaRPr lang="en-US" altLang="zh-CN" sz="1125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0000"/>
              </a:lnSpc>
              <a:buNone/>
              <a:defRPr sz="1125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2.2. </a:t>
            </a:r>
            <a:r>
              <a:rPr lang="en-US" altLang="zh-CN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Dataset characteristics (Software characteristics)</a:t>
            </a:r>
            <a:endParaRPr lang="en-US" altLang="zh-CN" sz="1125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 rot="21240000">
            <a:off x="7331710" y="779780"/>
            <a:ext cx="168529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0000"/>
          </a:bodyPr>
          <a:lstStyle/>
          <a:p>
            <a:pPr algn="l">
              <a:lnSpc>
                <a:spcPct val="110000"/>
              </a:lnSpc>
              <a:buNone/>
              <a:defRPr sz="1125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D88A3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03  ETHICS AND LEGAL ASPECTS</a:t>
            </a:r>
            <a:endParaRPr sz="1125" b="1" i="0">
              <a:solidFill>
                <a:srgbClr val="D88A3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 rot="21300000">
            <a:off x="6778625" y="1284605"/>
            <a:ext cx="3714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0000"/>
              </a:lnSpc>
              <a:buNone/>
              <a:defRPr sz="1125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3.1. </a:t>
            </a:r>
            <a:r>
              <a:rPr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Personal data</a:t>
            </a:r>
            <a:endParaRPr sz="1125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0000"/>
              </a:lnSpc>
              <a:buNone/>
              <a:defRPr sz="1125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3.2. </a:t>
            </a:r>
            <a:r>
              <a:rPr lang="en-US" altLang="zh-CN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Legal aspects</a:t>
            </a:r>
            <a:endParaRPr lang="en-US" altLang="zh-CN" sz="1125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0000"/>
              </a:lnSpc>
              <a:buNone/>
              <a:defRPr sz="1125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3.3. </a:t>
            </a:r>
            <a:r>
              <a:rPr lang="en-US" altLang="zh-CN" sz="1125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Other ethical aspects</a:t>
            </a:r>
            <a:endParaRPr lang="en-US" altLang="zh-CN" sz="1125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 rot="21300000">
            <a:off x="7330440" y="2649220"/>
            <a:ext cx="1745615" cy="2997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00" lnSpcReduction="20000"/>
          </a:bodyPr>
          <a:lstStyle/>
          <a:p>
            <a:pPr algn="l">
              <a:lnSpc>
                <a:spcPct val="110000"/>
              </a:lnSpc>
              <a:buNone/>
              <a:defRPr sz="1125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D88A3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04  MAKING RESEARCH FAIR</a:t>
            </a:r>
            <a:endParaRPr sz="1125" b="1" i="0">
              <a:solidFill>
                <a:srgbClr val="D88A3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 rot="21300000">
            <a:off x="6923405" y="3226435"/>
            <a:ext cx="2346960" cy="92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lnSpcReduction="20000"/>
          </a:bodyPr>
          <a:lstStyle/>
          <a:p>
            <a:pPr algn="l">
              <a:lnSpc>
                <a:spcPct val="128000"/>
              </a:lnSpc>
              <a:buNone/>
              <a:defRPr sz="1050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4.1. </a:t>
            </a:r>
            <a:r>
              <a:rPr lang="en-US" altLang="zh-CN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Long-term preservation</a:t>
            </a:r>
            <a:endParaRPr lang="en-US" altLang="zh-CN" sz="1050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8000"/>
              </a:lnSpc>
              <a:buNone/>
              <a:defRPr sz="1050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4.2. </a:t>
            </a:r>
            <a:r>
              <a:rPr lang="en-US" altLang="zh-CN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Findability</a:t>
            </a:r>
            <a:endParaRPr lang="en-US" altLang="zh-CN" sz="1050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8000"/>
              </a:lnSpc>
              <a:buNone/>
              <a:defRPr sz="1050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4.3. </a:t>
            </a:r>
            <a:r>
              <a:rPr lang="en-US" altLang="zh-CN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Accessibility</a:t>
            </a:r>
            <a:endParaRPr lang="en-US" altLang="zh-CN" sz="1050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8000"/>
              </a:lnSpc>
              <a:buNone/>
              <a:defRPr sz="1050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4.4. </a:t>
            </a:r>
            <a:r>
              <a:rPr lang="en-US" altLang="zh-CN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Interoperability</a:t>
            </a:r>
            <a:endParaRPr lang="en-US" altLang="zh-CN" sz="1050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8000"/>
              </a:lnSpc>
              <a:buNone/>
              <a:defRPr sz="1050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4.5. Reusability</a:t>
            </a:r>
            <a:endParaRPr lang="en-US" altLang="zh-CN" sz="1050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 rot="21360000">
            <a:off x="7470140" y="4588510"/>
            <a:ext cx="1998980" cy="3276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lnSpcReduction="20000"/>
          </a:bodyPr>
          <a:lstStyle/>
          <a:p>
            <a:pPr algn="l">
              <a:lnSpc>
                <a:spcPct val="110000"/>
              </a:lnSpc>
              <a:buNone/>
              <a:defRPr sz="1125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D88A3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05  QUALITY AND SECURITY</a:t>
            </a:r>
            <a:endParaRPr sz="1125" b="1" i="0">
              <a:solidFill>
                <a:srgbClr val="D88A3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 rot="21240000">
            <a:off x="7044055" y="5184140"/>
            <a:ext cx="38100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2000"/>
              </a:lnSpc>
              <a:buNone/>
              <a:defRPr sz="1050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5.1. </a:t>
            </a:r>
            <a:r>
              <a:rPr lang="en-US" altLang="zh-CN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Quality of the research output</a:t>
            </a:r>
            <a:endParaRPr lang="en-US" altLang="zh-CN" sz="1050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32000"/>
              </a:lnSpc>
              <a:buNone/>
              <a:defRPr sz="1050" b="0" i="0">
                <a:solidFill>
                  <a:srgbClr val="0B3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 b="0" i="0">
                <a:solidFill>
                  <a:srgbClr val="0B355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5.2. Security measures</a:t>
            </a:r>
            <a:endParaRPr lang="en-US" altLang="zh-CN" sz="1050" b="0" i="0">
              <a:solidFill>
                <a:srgbClr val="0B355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直接连接符 54"/>
          <p:cNvSpPr>
            <a:spLocks noGrp="1"/>
          </p:cNvSpPr>
          <p:nvPr/>
        </p:nvSpPr>
        <p:spPr>
          <a:xfrm>
            <a:off x="552450" y="333375"/>
            <a:ext cx="228600" cy="0"/>
          </a:xfrm>
          <a:prstGeom prst="line">
            <a:avLst/>
          </a:prstGeom>
          <a:noFill/>
          <a:ln w="19050">
            <a:solidFill>
              <a:srgbClr val="D88A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685800"/>
            <a:ext cx="4095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2925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925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Project workflow</a:t>
            </a:r>
            <a:endParaRPr sz="2925" b="0" i="0">
              <a:solidFill>
                <a:srgbClr val="0B3558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52450" y="1809750"/>
            <a:ext cx="3524250" cy="2076450"/>
          </a:xfrm>
          <a:prstGeom prst="roundRect">
            <a:avLst>
              <a:gd name="adj" fmla="val 2752"/>
            </a:avLst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2450" y="1809750"/>
            <a:ext cx="3524250" cy="552450"/>
          </a:xfrm>
          <a:prstGeom prst="roundRect">
            <a:avLst>
              <a:gd name="adj" fmla="val 10345"/>
            </a:avLst>
          </a:prstGeom>
          <a:solidFill>
            <a:srgbClr val="EEF1EC"/>
          </a:solidFill>
          <a:ln w="0">
            <a:noFill/>
          </a:ln>
        </p:spPr>
      </p:sp>
      <p:sp>
        <p:nvSpPr>
          <p:cNvPr id="9" name="椭圆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14375" y="1943100"/>
            <a:ext cx="314325" cy="314325"/>
          </a:xfrm>
          <a:prstGeom prst="ellipse">
            <a:avLst/>
          </a:prstGeom>
          <a:solidFill>
            <a:srgbClr val="D88A32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14375" y="2000250"/>
            <a:ext cx="314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7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23900" y="2505075"/>
            <a:ext cx="31813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Read the papers</a:t>
            </a:r>
            <a:endParaRPr lang="en-US" altLang="zh-CN" sz="1500" b="1" i="0">
              <a:solidFill>
                <a:srgbClr val="0B3558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23900" y="2799715"/>
            <a:ext cx="3339465" cy="7531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900" b="1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Understand OCDM and the OpenCitations ecosystem</a:t>
            </a:r>
            <a:endParaRPr lang="en-US" altLang="zh-CN" sz="900" b="1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9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started with the six papers provided for the course. They helped me understand OCDM, OpenCitations Meta, Index, and the related software before building the DMP.</a:t>
            </a:r>
            <a:endParaRPr lang="en-US" altLang="zh-CN" sz="900" b="0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23900" y="3590925"/>
            <a:ext cx="3181350" cy="0"/>
          </a:xfrm>
          <a:prstGeom prst="line">
            <a:avLst/>
          </a:prstGeom>
          <a:noFill/>
          <a:ln w="9525">
            <a:solidFill>
              <a:srgbClr val="CAD7D9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333875" y="1809750"/>
            <a:ext cx="3524250" cy="2076450"/>
          </a:xfrm>
          <a:prstGeom prst="roundRect">
            <a:avLst>
              <a:gd name="adj" fmla="val 2752"/>
            </a:avLst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333875" y="1809750"/>
            <a:ext cx="3524250" cy="552450"/>
          </a:xfrm>
          <a:prstGeom prst="roundRect">
            <a:avLst>
              <a:gd name="adj" fmla="val 10345"/>
            </a:avLst>
          </a:prstGeom>
          <a:solidFill>
            <a:srgbClr val="EEF1EC"/>
          </a:solidFill>
          <a:ln w="0">
            <a:noFill/>
          </a:ln>
        </p:spPr>
      </p:sp>
      <p:sp>
        <p:nvSpPr>
          <p:cNvPr id="17" name="椭圆 1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495800" y="1943100"/>
            <a:ext cx="314325" cy="314325"/>
          </a:xfrm>
          <a:prstGeom prst="ellipse">
            <a:avLst/>
          </a:prstGeom>
          <a:solidFill>
            <a:srgbClr val="D88A32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495800" y="2000250"/>
            <a:ext cx="314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7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481830" y="2420620"/>
            <a:ext cx="3448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Create the DMP in Argos</a:t>
            </a:r>
            <a:endParaRPr lang="en-US" altLang="zh-CN" sz="1500" b="1" i="0">
              <a:solidFill>
                <a:srgbClr val="0B3558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495800" y="2715895"/>
            <a:ext cx="3181350" cy="87693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900" b="1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 up the project in Argos</a:t>
            </a:r>
            <a:endParaRPr lang="en-US" altLang="zh-CN" sz="900" b="1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9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created the OpenCitations Data Management Plan in Argos and added the main project information, contacts, contributors, and overall scope.</a:t>
            </a:r>
            <a:endParaRPr lang="en-US" altLang="zh-CN" sz="900" b="0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4505325" y="3590925"/>
            <a:ext cx="3181350" cy="0"/>
          </a:xfrm>
          <a:prstGeom prst="line">
            <a:avLst/>
          </a:prstGeom>
          <a:noFill/>
          <a:ln w="9525">
            <a:solidFill>
              <a:srgbClr val="CAD7D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4505325" y="3657600"/>
            <a:ext cx="3181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 ·  DMP</a:t>
            </a:r>
            <a:endParaRPr sz="750" b="1" i="0">
              <a:solidFill>
                <a:srgbClr val="D88A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115300" y="1809750"/>
            <a:ext cx="3524250" cy="2076450"/>
          </a:xfrm>
          <a:prstGeom prst="roundRect">
            <a:avLst>
              <a:gd name="adj" fmla="val 2752"/>
            </a:avLst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115300" y="1809750"/>
            <a:ext cx="3524250" cy="552450"/>
          </a:xfrm>
          <a:prstGeom prst="roundRect">
            <a:avLst>
              <a:gd name="adj" fmla="val 10345"/>
            </a:avLst>
          </a:prstGeom>
          <a:solidFill>
            <a:srgbClr val="EEF1EC"/>
          </a:solidFill>
          <a:ln w="0">
            <a:noFill/>
          </a:ln>
        </p:spPr>
      </p:sp>
      <p:sp>
        <p:nvSpPr>
          <p:cNvPr id="25" name="椭圆 24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277225" y="1943100"/>
            <a:ext cx="314325" cy="314325"/>
          </a:xfrm>
          <a:prstGeom prst="ellipse">
            <a:avLst/>
          </a:prstGeom>
          <a:solidFill>
            <a:srgbClr val="D88A32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77225" y="2000250"/>
            <a:ext cx="314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7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286750" y="2505075"/>
            <a:ext cx="318135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Create six Descriptions</a:t>
            </a:r>
            <a:endParaRPr lang="en-US" altLang="zh-CN" sz="1500" b="1" i="0">
              <a:solidFill>
                <a:srgbClr val="0B3558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8286750" y="2780665"/>
            <a:ext cx="31813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00" lnSpcReduction="20000"/>
          </a:bodyPr>
          <a:lstStyle/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 b="1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Describe the six research outputs</a:t>
            </a:r>
            <a:endParaRPr lang="en-US" altLang="zh-CN" sz="1050" b="1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Inside the DMP, I created one Description for each research output and filled in information about</a:t>
            </a:r>
            <a:endParaRPr lang="en-US" altLang="zh-CN" sz="1050" b="0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Your Research Output · Summary · Ethics &amp; Legal · Making Research FAIR · Quality &amp; Security</a:t>
            </a:r>
            <a:endParaRPr lang="en-US" altLang="zh-CN" sz="1050" b="0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直接连接符 28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8286750" y="3590925"/>
            <a:ext cx="3181350" cy="0"/>
          </a:xfrm>
          <a:prstGeom prst="line">
            <a:avLst/>
          </a:prstGeom>
          <a:noFill/>
          <a:ln w="9525">
            <a:solidFill>
              <a:srgbClr val="CAD7D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8286750" y="3657600"/>
            <a:ext cx="3181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 ·  </a:t>
            </a:r>
            <a:r>
              <a:rPr lang="en-US"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ix Descriptions</a:t>
            </a:r>
            <a:endParaRPr sz="750" b="1" i="0">
              <a:solidFill>
                <a:srgbClr val="D88A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552450" y="4076700"/>
            <a:ext cx="3524250" cy="2076450"/>
          </a:xfrm>
          <a:prstGeom prst="roundRect">
            <a:avLst>
              <a:gd name="adj" fmla="val 2752"/>
            </a:avLst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552450" y="4076700"/>
            <a:ext cx="3524250" cy="552450"/>
          </a:xfrm>
          <a:prstGeom prst="roundRect">
            <a:avLst>
              <a:gd name="adj" fmla="val 10345"/>
            </a:avLst>
          </a:prstGeom>
          <a:solidFill>
            <a:srgbClr val="F2E9DA"/>
          </a:solidFill>
          <a:ln w="0">
            <a:noFill/>
          </a:ln>
        </p:spPr>
      </p:sp>
      <p:sp>
        <p:nvSpPr>
          <p:cNvPr id="33" name="椭圆 32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714375" y="4210050"/>
            <a:ext cx="314325" cy="314325"/>
          </a:xfrm>
          <a:prstGeom prst="ellipse">
            <a:avLst/>
          </a:prstGeom>
          <a:solidFill>
            <a:srgbClr val="D88A32"/>
          </a:solidFill>
          <a:ln w="0">
            <a:noFill/>
          </a:ln>
        </p:spPr>
      </p:sp>
      <p:sp>
        <p:nvSpPr>
          <p:cNvPr id="34" name="矩形 33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714375" y="4267200"/>
            <a:ext cx="314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7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723900" y="4725035"/>
            <a:ext cx="31813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Export the JSON</a:t>
            </a:r>
            <a:endParaRPr lang="en-US" altLang="zh-CN" sz="1500" b="1" i="0">
              <a:solidFill>
                <a:srgbClr val="0B3558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6" name="矩形 35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723900" y="5014595"/>
            <a:ext cx="3181350" cy="8051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00"/>
          </a:bodyPr>
          <a:lstStyle/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 b="1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the machine-readable version</a:t>
            </a:r>
            <a:endParaRPr lang="en-US" altLang="zh-CN" sz="1050" b="1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 completing the DMP, I exported it from Argos as  JSON and checked how the Plan and the six research outputs were represented in the file.</a:t>
            </a:r>
            <a:endParaRPr lang="en-US" altLang="zh-CN" sz="1050" b="0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直接连接符 36"/>
          <p:cNvSpPr>
            <a:spLocks noGrp="1"/>
          </p:cNvSpPr>
          <p:nvPr>
            <p:custDataLst>
              <p:tags r:id="rId30"/>
            </p:custDataLst>
          </p:nvPr>
        </p:nvSpPr>
        <p:spPr>
          <a:xfrm>
            <a:off x="723900" y="5857875"/>
            <a:ext cx="3181350" cy="0"/>
          </a:xfrm>
          <a:prstGeom prst="line">
            <a:avLst/>
          </a:prstGeom>
          <a:noFill/>
          <a:ln w="9525">
            <a:solidFill>
              <a:srgbClr val="CAD7D9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>
            <p:custDataLst>
              <p:tags r:id="rId31"/>
            </p:custDataLst>
          </p:nvPr>
        </p:nvSpPr>
        <p:spPr>
          <a:xfrm>
            <a:off x="723900" y="5924550"/>
            <a:ext cx="3181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 · JSON</a:t>
            </a:r>
            <a:endParaRPr sz="750" b="1" i="0">
              <a:solidFill>
                <a:srgbClr val="D88A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>
            <p:custDataLst>
              <p:tags r:id="rId32"/>
            </p:custDataLst>
          </p:nvPr>
        </p:nvSpPr>
        <p:spPr>
          <a:xfrm>
            <a:off x="4333875" y="4076700"/>
            <a:ext cx="3524250" cy="2076450"/>
          </a:xfrm>
          <a:prstGeom prst="roundRect">
            <a:avLst>
              <a:gd name="adj" fmla="val 2752"/>
            </a:avLst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40" name="圆角矩形 39"/>
          <p:cNvSpPr>
            <a:spLocks noGrp="1"/>
          </p:cNvSpPr>
          <p:nvPr>
            <p:custDataLst>
              <p:tags r:id="rId33"/>
            </p:custDataLst>
          </p:nvPr>
        </p:nvSpPr>
        <p:spPr>
          <a:xfrm>
            <a:off x="4333875" y="4076700"/>
            <a:ext cx="3524250" cy="552450"/>
          </a:xfrm>
          <a:prstGeom prst="roundRect">
            <a:avLst>
              <a:gd name="adj" fmla="val 10345"/>
            </a:avLst>
          </a:prstGeom>
          <a:solidFill>
            <a:srgbClr val="F2E9DA"/>
          </a:solidFill>
          <a:ln w="0">
            <a:noFill/>
          </a:ln>
        </p:spPr>
      </p:sp>
      <p:sp>
        <p:nvSpPr>
          <p:cNvPr id="41" name="椭圆 40"/>
          <p:cNvSpPr>
            <a:spLocks noGrp="1"/>
          </p:cNvSpPr>
          <p:nvPr>
            <p:custDataLst>
              <p:tags r:id="rId34"/>
            </p:custDataLst>
          </p:nvPr>
        </p:nvSpPr>
        <p:spPr>
          <a:xfrm>
            <a:off x="4495800" y="4210050"/>
            <a:ext cx="314325" cy="314325"/>
          </a:xfrm>
          <a:prstGeom prst="ellipse">
            <a:avLst/>
          </a:prstGeom>
          <a:solidFill>
            <a:srgbClr val="D88A32"/>
          </a:solidFill>
          <a:ln w="0">
            <a:noFill/>
          </a:ln>
        </p:spPr>
      </p:sp>
      <p:sp>
        <p:nvSpPr>
          <p:cNvPr id="42" name="矩形 41"/>
          <p:cNvSpPr>
            <a:spLocks noGrp="1"/>
          </p:cNvSpPr>
          <p:nvPr>
            <p:custDataLst>
              <p:tags r:id="rId35"/>
            </p:custDataLst>
          </p:nvPr>
        </p:nvSpPr>
        <p:spPr>
          <a:xfrm>
            <a:off x="4495800" y="4267200"/>
            <a:ext cx="314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7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>
            <p:custDataLst>
              <p:tags r:id="rId36"/>
            </p:custDataLst>
          </p:nvPr>
        </p:nvSpPr>
        <p:spPr>
          <a:xfrm>
            <a:off x="4505325" y="4772025"/>
            <a:ext cx="31813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Build the Python translator</a:t>
            </a:r>
            <a:endParaRPr lang="en-US" altLang="zh-CN" sz="1500" b="1" i="0">
              <a:solidFill>
                <a:srgbClr val="0B3558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44" name="矩形 43"/>
          <p:cNvSpPr>
            <a:spLocks noGrp="1"/>
          </p:cNvSpPr>
          <p:nvPr>
            <p:custDataLst>
              <p:tags r:id="rId37"/>
            </p:custDataLst>
          </p:nvPr>
        </p:nvSpPr>
        <p:spPr>
          <a:xfrm>
            <a:off x="4505325" y="5067300"/>
            <a:ext cx="31813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900" b="1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Turn the JSON into something easier to read</a:t>
            </a:r>
            <a:endParaRPr lang="en-US" altLang="zh-CN" sz="900" b="1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9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wrote a Python script to load the JSON, go through its structure, extract the information I needed, and prepare it for HTML output.</a:t>
            </a:r>
            <a:endParaRPr lang="en-US" altLang="zh-CN" sz="900" b="0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直接连接符 44"/>
          <p:cNvSpPr>
            <a:spLocks noGrp="1"/>
          </p:cNvSpPr>
          <p:nvPr>
            <p:custDataLst>
              <p:tags r:id="rId38"/>
            </p:custDataLst>
          </p:nvPr>
        </p:nvSpPr>
        <p:spPr>
          <a:xfrm>
            <a:off x="4505325" y="5857875"/>
            <a:ext cx="3181350" cy="0"/>
          </a:xfrm>
          <a:prstGeom prst="line">
            <a:avLst/>
          </a:prstGeom>
          <a:noFill/>
          <a:ln w="9525">
            <a:solidFill>
              <a:srgbClr val="CAD7D9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>
            <p:custDataLst>
              <p:tags r:id="rId39"/>
            </p:custDataLst>
          </p:nvPr>
        </p:nvSpPr>
        <p:spPr>
          <a:xfrm>
            <a:off x="4505325" y="5924550"/>
            <a:ext cx="3181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 ·</a:t>
            </a:r>
            <a:r>
              <a:rPr lang="en-US"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Translator.py</a:t>
            </a:r>
            <a:endParaRPr lang="en-US" sz="750" b="1" i="0">
              <a:solidFill>
                <a:srgbClr val="D88A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圆角矩形 46"/>
          <p:cNvSpPr>
            <a:spLocks noGrp="1"/>
          </p:cNvSpPr>
          <p:nvPr>
            <p:custDataLst>
              <p:tags r:id="rId40"/>
            </p:custDataLst>
          </p:nvPr>
        </p:nvSpPr>
        <p:spPr>
          <a:xfrm>
            <a:off x="8115300" y="4076700"/>
            <a:ext cx="3524250" cy="2076450"/>
          </a:xfrm>
          <a:prstGeom prst="roundRect">
            <a:avLst>
              <a:gd name="adj" fmla="val 2752"/>
            </a:avLst>
          </a:prstGeom>
          <a:solidFill>
            <a:srgbClr val="FFFDF8"/>
          </a:solidFill>
          <a:ln w="9525">
            <a:solidFill>
              <a:srgbClr val="CAD7D9"/>
            </a:solidFill>
            <a:prstDash val="solid"/>
          </a:ln>
        </p:spPr>
      </p:sp>
      <p:sp>
        <p:nvSpPr>
          <p:cNvPr id="48" name="圆角矩形 47"/>
          <p:cNvSpPr>
            <a:spLocks noGrp="1"/>
          </p:cNvSpPr>
          <p:nvPr>
            <p:custDataLst>
              <p:tags r:id="rId41"/>
            </p:custDataLst>
          </p:nvPr>
        </p:nvSpPr>
        <p:spPr>
          <a:xfrm>
            <a:off x="8115300" y="4076700"/>
            <a:ext cx="3524250" cy="552450"/>
          </a:xfrm>
          <a:prstGeom prst="roundRect">
            <a:avLst>
              <a:gd name="adj" fmla="val 10345"/>
            </a:avLst>
          </a:prstGeom>
          <a:solidFill>
            <a:srgbClr val="F2E9DA"/>
          </a:solidFill>
          <a:ln w="0">
            <a:noFill/>
          </a:ln>
        </p:spPr>
      </p:sp>
      <p:sp>
        <p:nvSpPr>
          <p:cNvPr id="49" name="椭圆 48"/>
          <p:cNvSpPr>
            <a:spLocks noGrp="1"/>
          </p:cNvSpPr>
          <p:nvPr>
            <p:custDataLst>
              <p:tags r:id="rId42"/>
            </p:custDataLst>
          </p:nvPr>
        </p:nvSpPr>
        <p:spPr>
          <a:xfrm>
            <a:off x="8277225" y="4210050"/>
            <a:ext cx="314325" cy="314325"/>
          </a:xfrm>
          <a:prstGeom prst="ellipse">
            <a:avLst/>
          </a:prstGeom>
          <a:solidFill>
            <a:srgbClr val="D88A32"/>
          </a:solidFill>
          <a:ln w="0">
            <a:noFill/>
          </a:ln>
        </p:spPr>
      </p:sp>
      <p:sp>
        <p:nvSpPr>
          <p:cNvPr id="50" name="矩形 49"/>
          <p:cNvSpPr>
            <a:spLocks noGrp="1"/>
          </p:cNvSpPr>
          <p:nvPr>
            <p:custDataLst>
              <p:tags r:id="rId43"/>
            </p:custDataLst>
          </p:nvPr>
        </p:nvSpPr>
        <p:spPr>
          <a:xfrm>
            <a:off x="8277225" y="4267200"/>
            <a:ext cx="314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7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>
            <p:custDataLst>
              <p:tags r:id="rId44"/>
            </p:custDataLst>
          </p:nvPr>
        </p:nvSpPr>
        <p:spPr>
          <a:xfrm>
            <a:off x="8286750" y="4772025"/>
            <a:ext cx="353885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1500" b="1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HTML generation</a:t>
            </a:r>
            <a:endParaRPr lang="en-US" altLang="zh-CN" sz="1500" b="1" i="0">
              <a:solidFill>
                <a:srgbClr val="0B3558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52" name="矩形 51"/>
          <p:cNvSpPr>
            <a:spLocks noGrp="1"/>
          </p:cNvSpPr>
          <p:nvPr>
            <p:custDataLst>
              <p:tags r:id="rId45"/>
            </p:custDataLst>
          </p:nvPr>
        </p:nvSpPr>
        <p:spPr>
          <a:xfrm>
            <a:off x="8286750" y="5014595"/>
            <a:ext cx="3181350" cy="8051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00"/>
          </a:bodyPr>
          <a:lstStyle/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 b="1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the human-readable result</a:t>
            </a:r>
            <a:endParaRPr lang="en-US" altLang="zh-CN" sz="1050" b="1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Finally, I ran the Python script and generated a human-readable HTML page that presents the DMP information in a clearer and more browsable format.</a:t>
            </a:r>
            <a:endParaRPr lang="en-US" altLang="zh-CN" sz="1050" b="0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直接连接符 52"/>
          <p:cNvSpPr>
            <a:spLocks noGrp="1"/>
          </p:cNvSpPr>
          <p:nvPr>
            <p:custDataLst>
              <p:tags r:id="rId46"/>
            </p:custDataLst>
          </p:nvPr>
        </p:nvSpPr>
        <p:spPr>
          <a:xfrm>
            <a:off x="8286750" y="5857875"/>
            <a:ext cx="3181350" cy="0"/>
          </a:xfrm>
          <a:prstGeom prst="line">
            <a:avLst/>
          </a:prstGeom>
          <a:noFill/>
          <a:ln w="9525">
            <a:solidFill>
              <a:srgbClr val="CAD7D9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>
            <p:custDataLst>
              <p:tags r:id="rId47"/>
            </p:custDataLst>
          </p:nvPr>
        </p:nvSpPr>
        <p:spPr>
          <a:xfrm>
            <a:off x="8286750" y="5924550"/>
            <a:ext cx="3181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 ·  </a:t>
            </a:r>
            <a:r>
              <a:rPr lang="en-US"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endParaRPr lang="en-US" sz="750" b="1" i="0">
              <a:solidFill>
                <a:srgbClr val="D88A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39470" y="234315"/>
            <a:ext cx="4441825" cy="307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1" i="0">
                <a:solidFill>
                  <a:srgbClr val="A7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A766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SCIENCE · OPENCITATIONS · DATA MANAGEMENT PLAN</a:t>
            </a:r>
            <a:endParaRPr sz="1050" b="1" i="0">
              <a:solidFill>
                <a:srgbClr val="A766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矩形 2"/>
          <p:cNvSpPr>
            <a:spLocks noGrp="1"/>
          </p:cNvSpPr>
          <p:nvPr>
            <p:custDataLst>
              <p:tags r:id="rId48"/>
            </p:custDataLst>
          </p:nvPr>
        </p:nvSpPr>
        <p:spPr>
          <a:xfrm>
            <a:off x="723900" y="3657600"/>
            <a:ext cx="3181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 ·  </a:t>
            </a:r>
            <a:r>
              <a:rPr lang="en-US" sz="750" b="1" i="0">
                <a:solidFill>
                  <a:srgbClr val="D88A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Research Notes</a:t>
            </a:r>
            <a:endParaRPr lang="en-US" sz="750" b="1" i="0">
              <a:solidFill>
                <a:srgbClr val="D88A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ur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0">
            <a:noFill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552450" y="333375"/>
            <a:ext cx="228600" cy="0"/>
          </a:xfrm>
          <a:prstGeom prst="line">
            <a:avLst/>
          </a:prstGeom>
          <a:noFill/>
          <a:ln w="19050">
            <a:solidFill>
              <a:srgbClr val="D88A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23900"/>
            <a:ext cx="685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sz="31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OCDM DMP and Descriptions</a:t>
            </a:r>
            <a:endParaRPr lang="en-US" sz="315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1340485"/>
            <a:ext cx="478726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12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The made OpenCitations Data Management Plan records how six research outputs are identified, documented, accessed, preserved, and maintained.</a:t>
            </a:r>
            <a:endParaRPr lang="en-US" altLang="zh-CN" sz="12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1815" y="2205355"/>
            <a:ext cx="4954270" cy="29997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4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At the Plan level, Argos records the overall project context, including the title, organisation, contacts, contributors, access conditions, and general project information.</a:t>
            </a:r>
            <a:endParaRPr lang="en-US" altLang="zh-CN" sz="14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4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The Plan contains six research outputs: OCDM, OpenCitations Meta, OpenCitations Index, oc_meta, oc-index, and oc_ocdm.</a:t>
            </a:r>
            <a:endParaRPr lang="en-US" altLang="zh-CN" sz="14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4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Each research output has its own Description.</a:t>
            </a:r>
            <a:endParaRPr lang="en-US" altLang="zh-CN" sz="14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4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The Description applies the same management framework to one specific resource and records folowing 5 parts:</a:t>
            </a:r>
            <a:endParaRPr lang="en-US" altLang="zh-CN" sz="14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None/>
              <a:defRPr sz="105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4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Your Research Output · Summary · Ethics &amp; Legal · Making Research FAIR · Quality &amp; Security</a:t>
            </a:r>
            <a:endParaRPr lang="en-US" altLang="zh-CN" sz="1400" b="0" i="1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7710" y="1124585"/>
            <a:ext cx="5910580" cy="426021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664200" y="5517515"/>
            <a:ext cx="6043295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>
                <a:latin typeface="Arial" panose="020B0604020202020204" pitchFamily="34" charset="0"/>
                <a:ea typeface="微软雅黑" panose="020B0503020204020204" charset="-122"/>
                <a:hlinkClick r:id="rId2" action="ppaction://hlinkfile"/>
              </a:rPr>
              <a:t>https://argos.openaire.eu/plans/overview/84eff3c4-1d9b-4c02-b776-7eecaab6ecbe</a:t>
            </a:r>
            <a:endParaRPr lang="en-US" altLang="zh-CN" sz="1400">
              <a:latin typeface="Arial" panose="020B0604020202020204" pitchFamily="34" charset="0"/>
              <a:ea typeface="微软雅黑" panose="020B0503020204020204" charset="-122"/>
              <a:hlinkClick r:id="rId2" action="ppaction://hlinkfile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9470" y="234315"/>
            <a:ext cx="4441825" cy="307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1" i="0">
                <a:solidFill>
                  <a:srgbClr val="A7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A766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SCIENCE · OPENCITATIONS · DATA MANAGEMENT PLAN</a:t>
            </a:r>
            <a:endParaRPr sz="1050" b="1" i="0">
              <a:solidFill>
                <a:srgbClr val="A766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ur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0">
            <a:noFill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552450" y="333375"/>
            <a:ext cx="228600" cy="0"/>
          </a:xfrm>
          <a:prstGeom prst="line">
            <a:avLst/>
          </a:prstGeom>
          <a:noFill/>
          <a:ln w="19050">
            <a:solidFill>
              <a:srgbClr val="D88A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23900"/>
            <a:ext cx="685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sz="31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DMP Extracted JSON</a:t>
            </a:r>
            <a:endParaRPr lang="en-US" sz="315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1268730"/>
            <a:ext cx="5987415" cy="4546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10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After completing the Plan and six Descriptions in Argos, I exported the DMP in JSON format. The export reorganizes the information according to the DMP schema. Each resource is then described.</a:t>
            </a:r>
            <a:endParaRPr lang="en-US" altLang="zh-CN" sz="10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1180" y="1629410"/>
            <a:ext cx="5911850" cy="473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400" b="1" i="0" u="sng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Practical issues encountered</a:t>
            </a:r>
            <a:endParaRPr lang="en-US" altLang="zh-CN" sz="1400" b="1" i="0" u="sng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1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 · Fragmented structure and confusing order</a:t>
            </a:r>
            <a:endParaRPr lang="en-US" altLang="zh-CN" sz="1200" b="1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Related information is scattered across different objects and arrays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1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 · Very difficult to read directly</a:t>
            </a:r>
            <a:endParaRPr lang="en-US" altLang="zh-CN" sz="1200" b="1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The Json file is very difficult to read.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1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 · Empty JSON objects appear in the export</a:t>
            </a:r>
            <a:endParaRPr lang="en-US" altLang="zh-CN" sz="1200" b="1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Some arrays contain empty objects such as {} with no keys or values. 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1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 · Some text contains HTML markup</a:t>
            </a:r>
            <a:endParaRPr lang="en-US" altLang="zh-CN" sz="1200" b="1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Certain text fields include HTML elements such as &lt;div&gt;...&lt;/div&gt;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1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 · Contributors are repeated</a:t>
            </a:r>
            <a:endParaRPr lang="en-US" altLang="zh-CN" sz="1200" b="1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Contributors from different parts of the DMP are collected into one top-level contributor list. The same person can appear several times with different roles and in different ways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1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6 · The JSON preserves only part of the full Argos structure</a:t>
            </a:r>
            <a:endParaRPr lang="en-US" altLang="zh-CN" sz="1200" b="1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The export does not reproduce every information writte in the DMP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6000" y="5803265"/>
            <a:ext cx="604329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>
                <a:latin typeface="Arial" panose="020B0604020202020204" pitchFamily="34" charset="0"/>
                <a:ea typeface="微软雅黑" panose="020B0503020204020204" charset="-122"/>
                <a:hlinkClick r:id="rId1" action="ppaction://hlinkfile"/>
              </a:rPr>
              <a:t>OpenCitations_Data_Management_Plan.json</a:t>
            </a:r>
            <a:endParaRPr lang="en-US" altLang="zh-CN" sz="1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90" y="980440"/>
            <a:ext cx="4561840" cy="456184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839470" y="234315"/>
            <a:ext cx="4441825" cy="307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1" i="0">
                <a:solidFill>
                  <a:srgbClr val="A7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A766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SCIENCE · OPENCITATIONS · DATA MANAGEMENT PLAN</a:t>
            </a:r>
            <a:endParaRPr sz="1050" b="1" i="0">
              <a:solidFill>
                <a:srgbClr val="A766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ur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0">
            <a:noFill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552450" y="333375"/>
            <a:ext cx="228600" cy="0"/>
          </a:xfrm>
          <a:prstGeom prst="line">
            <a:avLst/>
          </a:prstGeom>
          <a:noFill/>
          <a:ln w="19050">
            <a:solidFill>
              <a:srgbClr val="D88A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23900"/>
            <a:ext cx="685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sz="31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Translator.py</a:t>
            </a:r>
            <a:endParaRPr lang="en-US" sz="315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1412875"/>
            <a:ext cx="478726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0000"/>
          </a:bodyPr>
          <a:lstStyle/>
          <a:p>
            <a:pPr algn="l">
              <a:lnSpc>
                <a:spcPct val="110000"/>
              </a:lnSpc>
              <a:buNone/>
              <a:defRPr sz="21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altLang="zh-CN" sz="210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Since the JSON is difficult to read directly, a Python script is required to reorganize the data into a clearer HTML to make it more human-readable.</a:t>
            </a:r>
            <a:endParaRPr lang="en-US" altLang="zh-CN" sz="210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2447925"/>
            <a:ext cx="4879340" cy="19265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Development logic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 Import basic libraries: json, html, re, sys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 Read the JSON file and extract data["dmp"]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3. Use label() to make JSON keys more readable, for example “xbox -&gt; Email”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 Use show() to convert values into HTML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5. Use make_html() to build the full page structure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45000"/>
              </a:lnSpc>
              <a:buNone/>
              <a:defRPr sz="15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6. Use main() to connect input JSON and output HTML</a:t>
            </a:r>
            <a:endParaRPr lang="en-US" altLang="zh-CN" sz="12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93080" y="5949315"/>
            <a:ext cx="604329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>
                <a:latin typeface="Arial" panose="020B0604020202020204" pitchFamily="34" charset="0"/>
                <a:ea typeface="微软雅黑" panose="020B0503020204020204" charset="-122"/>
                <a:hlinkClick r:id="rId1" action="ppaction://hlinkfile"/>
              </a:rPr>
              <a:t>Translator.py</a:t>
            </a:r>
            <a:endParaRPr lang="en-US" altLang="zh-CN" sz="1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45" y="692150"/>
            <a:ext cx="5180965" cy="5150485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839470" y="234315"/>
            <a:ext cx="4441825" cy="307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1" i="0">
                <a:solidFill>
                  <a:srgbClr val="A7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A766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SCIENCE · OPENCITATIONS · DATA MANAGEMENT PLAN</a:t>
            </a:r>
            <a:endParaRPr sz="1050" b="1" i="0">
              <a:solidFill>
                <a:srgbClr val="A766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ur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0">
            <a:noFill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552450" y="333375"/>
            <a:ext cx="228600" cy="0"/>
          </a:xfrm>
          <a:prstGeom prst="line">
            <a:avLst/>
          </a:prstGeom>
          <a:noFill/>
          <a:ln w="19050">
            <a:solidFill>
              <a:srgbClr val="D88A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23900"/>
            <a:ext cx="685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lang="en-US" sz="3150" b="0" i="0">
                <a:solidFill>
                  <a:srgbClr val="0B3558"/>
                </a:solidFill>
                <a:latin typeface="Times New Roman" panose="02020603050405020304" charset="0"/>
                <a:ea typeface="Georgia" panose="02040502050405020303"/>
                <a:cs typeface="Times New Roman" panose="02020603050405020304" charset="0"/>
              </a:rPr>
              <a:t>Final HTML</a:t>
            </a:r>
            <a:endParaRPr lang="en-US" sz="3150" b="0" i="0">
              <a:solidFill>
                <a:srgbClr val="0B3558"/>
              </a:solidFill>
              <a:latin typeface="Times New Roman" panose="02020603050405020304" charset="0"/>
              <a:ea typeface="Georgia" panose="02040502050405020303"/>
              <a:cs typeface="Times New Roman" panose="02020603050405020304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91810" y="5300980"/>
            <a:ext cx="4822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00" lnSpcReduction="20000"/>
          </a:bodyPr>
          <a:lstStyle/>
          <a:p>
            <a:pPr algn="l">
              <a:lnSpc>
                <a:spcPct val="125000"/>
              </a:lnSpc>
              <a:buNone/>
              <a:defRPr sz="1500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500" b="0" i="0">
                <a:solidFill>
                  <a:srgbClr val="5A74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 shared semantic model for scholarly entities, citations, identifiers, and provenance.</a:t>
            </a:r>
            <a:endParaRPr lang="en-US" altLang="zh-CN" sz="1500" b="0" i="0">
              <a:solidFill>
                <a:srgbClr val="5A74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71495" y="6021070"/>
            <a:ext cx="604329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>
                <a:latin typeface="Arial" panose="020B0604020202020204" pitchFamily="34" charset="0"/>
                <a:ea typeface="微软雅黑" panose="020B0503020204020204" charset="-122"/>
                <a:hlinkClick r:id="rId1" action="ppaction://hlinkfile"/>
              </a:rPr>
              <a:t>OpenCitations_Data_Management_Plan.html</a:t>
            </a:r>
            <a:endParaRPr lang="en-US" altLang="zh-CN" sz="1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" y="1288415"/>
            <a:ext cx="10282555" cy="4469765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839470" y="234315"/>
            <a:ext cx="4441825" cy="307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1" i="0">
                <a:solidFill>
                  <a:srgbClr val="A7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A766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OPEN SCIENCE · OPENCITATIONS · DATA MANAGEMENT PLAN</a:t>
            </a:r>
            <a:endParaRPr sz="1050" b="1" i="0">
              <a:solidFill>
                <a:srgbClr val="A766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4749165" y="2457450"/>
            <a:ext cx="7429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54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5400" b="0" i="0">
                <a:solidFill>
                  <a:srgbClr val="0B3558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Thank you</a:t>
            </a:r>
            <a:endParaRPr sz="5400" b="0" i="0">
              <a:solidFill>
                <a:srgbClr val="0B3558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558915" y="3695700"/>
            <a:ext cx="3810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2250" b="0" i="0">
                <a:solidFill>
                  <a:srgbClr val="D88A32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250" b="0" i="0">
                <a:solidFill>
                  <a:srgbClr val="D88A32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Questions</a:t>
            </a:r>
            <a:endParaRPr sz="2250" b="0" i="0">
              <a:solidFill>
                <a:srgbClr val="D88A32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416165" y="4429125"/>
            <a:ext cx="2095500" cy="0"/>
          </a:xfrm>
          <a:prstGeom prst="line">
            <a:avLst/>
          </a:prstGeom>
          <a:noFill/>
          <a:ln w="9525">
            <a:solidFill>
              <a:srgbClr val="CAD7D9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20665" y="4638675"/>
            <a:ext cx="628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2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5A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Yifan Wu   ·   Open Science   ·   a.y. 2025/2026</a:t>
            </a:r>
            <a:endParaRPr sz="1275" b="0" i="0">
              <a:solidFill>
                <a:srgbClr val="5A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27" r="58271" b="27"/>
          <a:stretch>
            <a:fillRect/>
          </a:stretch>
        </p:blipFill>
        <p:spPr>
          <a:xfrm>
            <a:off x="0" y="0"/>
            <a:ext cx="508762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2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3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4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5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6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7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8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9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10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11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12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13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14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15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16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17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18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19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20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21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22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23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24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25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26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27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28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29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30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31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32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33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34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35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36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37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38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39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40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41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42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43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44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45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46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47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ags/tag48.xml><?xml version="1.0" encoding="utf-8"?>
<p:tagLst xmlns:p="http://schemas.openxmlformats.org/presentationml/2006/main">
  <p:tag name="KSO_WM_DIAGRAM_VIRTUALLY_FRAME" val="{&quot;height&quot;:342,&quot;left&quot;:43.5,&quot;top&quot;:142.5,&quot;width&quot;:887.65}"/>
</p:tagLst>
</file>

<file path=ppt/theme/theme1.xml><?xml version="1.0" encoding="utf-8"?>
<a:theme xmlns:a="http://schemas.openxmlformats.org/drawingml/2006/main" name="OpenCitations DMP">
  <a:themeElements>
    <a:clrScheme name="OpenCitations DMP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enCitations DM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penCitations DMP">
  <a:themeElements>
    <a:clrScheme name="OpenCitations DMP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enCitations DM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penCitations DMP">
  <a:themeElements>
    <a:clrScheme name="OpenCitations DMP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enCitations DM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9709</Words>
  <Application>WPS 演示</Application>
  <PresentationFormat>OpenCitations DMP</PresentationFormat>
  <Paragraphs>331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Times New Roman</vt:lpstr>
      <vt:lpstr>Georgia</vt:lpstr>
      <vt:lpstr>Arial Unicode MS</vt:lpstr>
      <vt:lpstr>Calibri</vt:lpstr>
      <vt:lpstr>OpenCitations DMP</vt:lpstr>
      <vt:lpstr>OpenCitations DMP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OpenCitations Data Management Plan</dc:title>
  <dc:creator>Yifan Wu</dc:creator>
  <cp:lastModifiedBy>Francisco Domini</cp:lastModifiedBy>
  <cp:revision>73</cp:revision>
  <dcterms:created xsi:type="dcterms:W3CDTF">2026-10-06T20:11:00Z</dcterms:created>
  <dcterms:modified xsi:type="dcterms:W3CDTF">2026-10-08T06:31:59Z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2B4BD10557B74D3EA4AE8B54ED07EA0E_12</vt:lpwstr>
  </property>
  <property fmtid="{D5CDD505-2E9C-101B-9397-08002B2CF9AE}" pid="3" name="KSOProductBuildVer">
    <vt:lpwstr>2052-12.1.0.28505</vt:lpwstr>
  </property>
</Properties>
</file>